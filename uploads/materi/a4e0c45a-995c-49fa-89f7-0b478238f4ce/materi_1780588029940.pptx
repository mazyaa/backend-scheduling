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4" autoAdjust="0"/>
    <p:restoredTop sz="94660"/>
  </p:normalViewPr>
  <p:slideViewPr>
    <p:cSldViewPr snapToGrid="0">
      <p:cViewPr>
        <p:scale>
          <a:sx n="50" d="100"/>
          <a:sy n="50" d="100"/>
        </p:scale>
        <p:origin x="24" y="3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4" name="Group 3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61708" y="2091263"/>
            <a:ext cx="9068586" cy="2590800"/>
          </a:xfrm>
        </p:spPr>
        <p:txBody>
          <a:bodyPr tIns="45720" bIns="45720" anchor="ctr">
            <a:noAutofit/>
          </a:bodyPr>
          <a:lstStyle>
            <a:lvl1pPr algn="ctr">
              <a:lnSpc>
                <a:spcPct val="83000"/>
              </a:lnSpc>
              <a:defRPr lang="en-US" sz="72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62100" y="4682062"/>
            <a:ext cx="9070848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 spc="8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5"/>
            <a:ext cx="1554480" cy="527213"/>
          </a:xfrm>
        </p:spPr>
        <p:txBody>
          <a:bodyPr/>
          <a:lstStyle>
            <a:lvl1pPr algn="ctr">
              <a:defRPr sz="13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DA7DD1B5-9ED9-4B71-89F5-68584AE86659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453896" y="5211060"/>
            <a:ext cx="5905500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19" y="5212080"/>
            <a:ext cx="2111881" cy="2286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74BE4C41-0EE3-4733-A2E7-767A31D096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845516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7DD1B5-9ED9-4B71-89F5-68584AE86659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BE4C41-0EE3-4733-A2E7-767A31D096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83162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0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31" name="Group 30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3623" y="2094309"/>
            <a:ext cx="9070848" cy="2587752"/>
          </a:xfrm>
        </p:spPr>
        <p:txBody>
          <a:bodyPr anchor="ctr">
            <a:noAutofit/>
          </a:bodyPr>
          <a:lstStyle>
            <a:lvl1pPr algn="ctr">
              <a:lnSpc>
                <a:spcPct val="83000"/>
              </a:lnSpc>
              <a:defRPr lang="en-US" sz="72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3624" y="4682062"/>
            <a:ext cx="9070848" cy="4572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21808" y="1344502"/>
            <a:ext cx="1554480" cy="530352"/>
          </a:xfrm>
        </p:spPr>
        <p:txBody>
          <a:bodyPr/>
          <a:lstStyle>
            <a:lvl1pPr algn="ctr">
              <a:defRPr lang="en-US" sz="13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DA7DD1B5-9ED9-4B71-89F5-68584AE86659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53553" y="5211060"/>
            <a:ext cx="5907024" cy="228600"/>
          </a:xfrm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211060"/>
            <a:ext cx="2112264" cy="228600"/>
          </a:xfrm>
        </p:spPr>
        <p:txBody>
          <a:bodyPr/>
          <a:lstStyle/>
          <a:p>
            <a:fld id="{74BE4C41-0EE3-4733-A2E7-767A31D096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005886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7032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7DD1B5-9ED9-4B71-89F5-68584AE86659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BE4C41-0EE3-4733-A2E7-767A31D096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0238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55898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7336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73368" y="2756581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7DD1B5-9ED9-4B71-89F5-68584AE86659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BE4C41-0EE3-4733-A2E7-767A31D096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24248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7DD1B5-9ED9-4B71-89F5-68584AE86659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BE4C41-0EE3-4733-A2E7-767A31D096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1011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7DD1B5-9ED9-4B71-89F5-68584AE86659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BE4C41-0EE3-4733-A2E7-767A31D096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8247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245529" y="237744"/>
            <a:ext cx="8531352" cy="638251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7392"/>
            <a:ext cx="2430780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b="0" kern="1200" cap="none" spc="0" baseline="0" dirty="0">
                <a:solidFill>
                  <a:srgbClr val="FFFFFF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7772400" cy="53340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0780" cy="35052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7DD1B5-9ED9-4B71-89F5-68584AE86659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93677" y="6223002"/>
            <a:ext cx="146304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74BE4C41-0EE3-4733-A2E7-767A31D09631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9949418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3504"/>
            <a:ext cx="2432304" cy="1645920"/>
          </a:xfrm>
        </p:spPr>
        <p:txBody>
          <a:bodyPr anchor="b">
            <a:noAutofit/>
          </a:bodyPr>
          <a:lstStyle>
            <a:lvl1pPr algn="l">
              <a:defRPr sz="2800" b="0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8531352" cy="6382512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2304" cy="3502152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DA7DD1B5-9ED9-4B71-89F5-68584AE86659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algn="r" defTabSz="914400" rtl="0" eaLnBrk="1" latinLnBrk="0" hangingPunct="1">
              <a:defRPr lang="en-US" sz="1000" kern="1200" dirty="0"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96728" y="6227064"/>
            <a:ext cx="146304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74BE4C41-0EE3-4733-A2E7-767A31D09631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9251412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7DD1B5-9ED9-4B71-89F5-68584AE86659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BE4C41-0EE3-4733-A2E7-767A31D096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455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1600" y="762000"/>
            <a:ext cx="2362200" cy="5257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762000"/>
            <a:ext cx="8077200" cy="5257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7DD1B5-9ED9-4B71-89F5-68584AE86659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BE4C41-0EE3-4733-A2E7-767A31D096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035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2"/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931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74320" y="6307672"/>
            <a:ext cx="274320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DA7DD1B5-9ED9-4B71-89F5-68584AE86659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89960" y="6307672"/>
            <a:ext cx="521208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69880" y="6307672"/>
            <a:ext cx="146304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74BE4C41-0EE3-4733-A2E7-767A31D096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3179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80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42E37F-FAD8-CF71-F751-FA72CEC1375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K-Nearest Neighbor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9C4F7B-EA98-F323-6D94-A1146AC962F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1862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845C23-5389-65A6-B067-D7E6760E43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dirty="0" err="1"/>
              <a:t>Pengenalan</a:t>
            </a:r>
            <a:r>
              <a:rPr lang="en-US" dirty="0"/>
              <a:t> </a:t>
            </a:r>
            <a:r>
              <a:rPr lang="en-US" dirty="0" err="1"/>
              <a:t>Algoritma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k-Nearest Neighbor (k-NN)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451813-3D31-469B-D157-84230E0204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2014194"/>
            <a:ext cx="10058400" cy="3931920"/>
          </a:xfrm>
        </p:spPr>
        <p:txBody>
          <a:bodyPr/>
          <a:lstStyle/>
          <a:p>
            <a:r>
              <a:rPr lang="en-US" dirty="0"/>
              <a:t>Tujuan </a:t>
            </a:r>
            <a:r>
              <a:rPr lang="en-US" dirty="0" err="1"/>
              <a:t>algoritma</a:t>
            </a:r>
            <a:r>
              <a:rPr lang="en-US" dirty="0"/>
              <a:t> </a:t>
            </a:r>
            <a:r>
              <a:rPr lang="en-US" dirty="0" err="1"/>
              <a:t>klasisfikasi</a:t>
            </a:r>
            <a:r>
              <a:rPr lang="en-US" dirty="0"/>
              <a:t> </a:t>
            </a:r>
            <a:r>
              <a:rPr lang="en-US" dirty="0" err="1"/>
              <a:t>adalah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memprediksi</a:t>
            </a:r>
            <a:r>
              <a:rPr lang="en-US" dirty="0"/>
              <a:t> </a:t>
            </a:r>
            <a:r>
              <a:rPr lang="en-US" dirty="0" err="1"/>
              <a:t>kelas</a:t>
            </a:r>
            <a:r>
              <a:rPr lang="en-US" dirty="0"/>
              <a:t> </a:t>
            </a:r>
            <a:r>
              <a:rPr lang="en-US" dirty="0" err="1"/>
              <a:t>baru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dataset yang </a:t>
            </a:r>
            <a:r>
              <a:rPr lang="en-US" dirty="0" err="1"/>
              <a:t>mempunyai</a:t>
            </a:r>
            <a:r>
              <a:rPr lang="en-US" dirty="0"/>
              <a:t> </a:t>
            </a:r>
            <a:r>
              <a:rPr lang="en-US" dirty="0" err="1"/>
              <a:t>kelas</a:t>
            </a:r>
            <a:r>
              <a:rPr lang="en-US" dirty="0"/>
              <a:t>. </a:t>
            </a:r>
          </a:p>
          <a:p>
            <a:endParaRPr lang="en-US" dirty="0"/>
          </a:p>
          <a:p>
            <a:r>
              <a:rPr lang="en-US" dirty="0" err="1"/>
              <a:t>Ilustrasi</a:t>
            </a:r>
            <a:r>
              <a:rPr lang="en-US" dirty="0"/>
              <a:t> </a:t>
            </a:r>
            <a:r>
              <a:rPr lang="en-US" dirty="0" err="1"/>
              <a:t>Algoritma</a:t>
            </a:r>
            <a:r>
              <a:rPr lang="en-US" dirty="0"/>
              <a:t> k-NN</a:t>
            </a:r>
          </a:p>
          <a:p>
            <a:pPr lvl="1"/>
            <a:r>
              <a:rPr lang="en-US" dirty="0" err="1"/>
              <a:t>Terdapat</a:t>
            </a:r>
            <a:r>
              <a:rPr lang="en-US" dirty="0"/>
              <a:t> </a:t>
            </a:r>
            <a:r>
              <a:rPr lang="en-US" dirty="0" err="1"/>
              <a:t>objek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kelas</a:t>
            </a:r>
            <a:r>
              <a:rPr lang="en-US" dirty="0"/>
              <a:t> </a:t>
            </a:r>
            <a:r>
              <a:rPr lang="en-US" dirty="0" err="1"/>
              <a:t>singa</a:t>
            </a:r>
            <a:r>
              <a:rPr lang="en-US" dirty="0"/>
              <a:t> dan </a:t>
            </a:r>
            <a:r>
              <a:rPr lang="en-US" dirty="0" err="1"/>
              <a:t>kambing</a:t>
            </a:r>
            <a:r>
              <a:rPr lang="en-US" dirty="0"/>
              <a:t>. </a:t>
            </a:r>
          </a:p>
          <a:p>
            <a:pPr lvl="1"/>
            <a:r>
              <a:rPr lang="en-US" dirty="0"/>
              <a:t>Singa </a:t>
            </a:r>
            <a:r>
              <a:rPr lang="en-US" dirty="0" err="1"/>
              <a:t>mempunyai</a:t>
            </a:r>
            <a:r>
              <a:rPr lang="en-US" dirty="0"/>
              <a:t> </a:t>
            </a:r>
            <a:r>
              <a:rPr lang="en-US" dirty="0" err="1"/>
              <a:t>ciri</a:t>
            </a:r>
            <a:r>
              <a:rPr lang="en-US" dirty="0"/>
              <a:t>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bertanduk</a:t>
            </a:r>
            <a:r>
              <a:rPr lang="en-US" dirty="0"/>
              <a:t> , </a:t>
            </a:r>
            <a:r>
              <a:rPr lang="en-US" dirty="0" err="1"/>
              <a:t>gigi</a:t>
            </a:r>
            <a:r>
              <a:rPr lang="en-US" dirty="0"/>
              <a:t> </a:t>
            </a:r>
            <a:r>
              <a:rPr lang="en-US" dirty="0" err="1"/>
              <a:t>bertaring</a:t>
            </a:r>
            <a:r>
              <a:rPr lang="en-US" dirty="0"/>
              <a:t>, </a:t>
            </a:r>
          </a:p>
          <a:p>
            <a:pPr marL="274320" lvl="1" indent="0">
              <a:buNone/>
            </a:pPr>
            <a:r>
              <a:rPr lang="en-US" dirty="0"/>
              <a:t>    </a:t>
            </a:r>
            <a:r>
              <a:rPr lang="en-US" dirty="0" err="1"/>
              <a:t>Pemakan</a:t>
            </a:r>
            <a:r>
              <a:rPr lang="en-US" dirty="0"/>
              <a:t> </a:t>
            </a:r>
            <a:r>
              <a:rPr lang="en-US" dirty="0" err="1"/>
              <a:t>daging</a:t>
            </a:r>
            <a:r>
              <a:rPr lang="en-US" dirty="0"/>
              <a:t>, </a:t>
            </a:r>
            <a:r>
              <a:rPr lang="en-US" dirty="0" err="1"/>
              <a:t>suara</a:t>
            </a:r>
            <a:r>
              <a:rPr lang="en-US" dirty="0"/>
              <a:t> </a:t>
            </a:r>
            <a:r>
              <a:rPr lang="en-US" dirty="0" err="1"/>
              <a:t>mengaum</a:t>
            </a:r>
            <a:r>
              <a:rPr lang="en-US" dirty="0"/>
              <a:t>, </a:t>
            </a:r>
            <a:r>
              <a:rPr lang="en-US" dirty="0" err="1"/>
              <a:t>bekaki</a:t>
            </a:r>
            <a:r>
              <a:rPr lang="en-US" dirty="0"/>
              <a:t> </a:t>
            </a:r>
            <a:r>
              <a:rPr lang="en-US" dirty="0" err="1"/>
              <a:t>empat</a:t>
            </a:r>
            <a:r>
              <a:rPr lang="en-US" dirty="0"/>
              <a:t>, dan </a:t>
            </a:r>
          </a:p>
          <a:p>
            <a:pPr marL="274320" lvl="1" indent="0">
              <a:buNone/>
            </a:pPr>
            <a:r>
              <a:rPr lang="en-US" dirty="0"/>
              <a:t>    </a:t>
            </a:r>
            <a:r>
              <a:rPr lang="en-US" dirty="0" err="1"/>
              <a:t>mempunyai</a:t>
            </a:r>
            <a:r>
              <a:rPr lang="en-US" dirty="0"/>
              <a:t> </a:t>
            </a:r>
            <a:r>
              <a:rPr lang="en-US" dirty="0" err="1"/>
              <a:t>ekor</a:t>
            </a:r>
            <a:r>
              <a:rPr lang="en-US" dirty="0"/>
              <a:t>.</a:t>
            </a:r>
          </a:p>
          <a:p>
            <a:pPr lvl="1"/>
            <a:r>
              <a:rPr lang="en-US" dirty="0" err="1"/>
              <a:t>Kambing</a:t>
            </a:r>
            <a:r>
              <a:rPr lang="en-US" dirty="0"/>
              <a:t> </a:t>
            </a:r>
            <a:r>
              <a:rPr lang="en-US" dirty="0" err="1"/>
              <a:t>mempunyai</a:t>
            </a:r>
            <a:r>
              <a:rPr lang="en-US" dirty="0"/>
              <a:t> </a:t>
            </a:r>
            <a:r>
              <a:rPr lang="en-US" dirty="0" err="1"/>
              <a:t>ciri</a:t>
            </a:r>
            <a:r>
              <a:rPr lang="en-US" dirty="0"/>
              <a:t> </a:t>
            </a:r>
            <a:r>
              <a:rPr lang="en-US" dirty="0" err="1"/>
              <a:t>bertanduk</a:t>
            </a:r>
            <a:r>
              <a:rPr lang="en-US" dirty="0"/>
              <a:t>, </a:t>
            </a:r>
            <a:r>
              <a:rPr lang="en-US" dirty="0" err="1"/>
              <a:t>gigi</a:t>
            </a:r>
            <a:r>
              <a:rPr lang="en-US" dirty="0"/>
              <a:t>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bertaring</a:t>
            </a:r>
            <a:r>
              <a:rPr lang="en-US" dirty="0"/>
              <a:t>, </a:t>
            </a:r>
          </a:p>
          <a:p>
            <a:pPr marL="274320" lvl="1" indent="0">
              <a:buNone/>
            </a:pPr>
            <a:r>
              <a:rPr lang="en-US" dirty="0"/>
              <a:t>   </a:t>
            </a:r>
            <a:r>
              <a:rPr lang="en-US" dirty="0" err="1"/>
              <a:t>pemakan</a:t>
            </a:r>
            <a:r>
              <a:rPr lang="en-US" dirty="0"/>
              <a:t> </a:t>
            </a:r>
            <a:r>
              <a:rPr lang="en-US" dirty="0" err="1"/>
              <a:t>tumbuhan</a:t>
            </a:r>
            <a:r>
              <a:rPr lang="en-US" dirty="0"/>
              <a:t>, </a:t>
            </a:r>
            <a:r>
              <a:rPr lang="en-US" dirty="0" err="1"/>
              <a:t>suara</a:t>
            </a:r>
            <a:r>
              <a:rPr lang="en-US" dirty="0"/>
              <a:t> </a:t>
            </a:r>
            <a:r>
              <a:rPr lang="en-US" dirty="0" err="1"/>
              <a:t>mengembik</a:t>
            </a:r>
            <a:r>
              <a:rPr lang="en-US" dirty="0"/>
              <a:t>, </a:t>
            </a:r>
            <a:r>
              <a:rPr lang="en-US" dirty="0" err="1"/>
              <a:t>berkaki</a:t>
            </a:r>
            <a:r>
              <a:rPr lang="en-US" dirty="0"/>
              <a:t> </a:t>
            </a:r>
            <a:r>
              <a:rPr lang="en-US" dirty="0" err="1"/>
              <a:t>empat</a:t>
            </a:r>
            <a:r>
              <a:rPr lang="en-US" dirty="0"/>
              <a:t>, </a:t>
            </a:r>
          </a:p>
          <a:p>
            <a:pPr marL="274320" lvl="1" indent="0">
              <a:buNone/>
            </a:pPr>
            <a:r>
              <a:rPr lang="en-US" dirty="0"/>
              <a:t>   dan </a:t>
            </a:r>
            <a:r>
              <a:rPr lang="en-US" dirty="0" err="1"/>
              <a:t>mempunyai</a:t>
            </a:r>
            <a:r>
              <a:rPr lang="en-US" dirty="0"/>
              <a:t> </a:t>
            </a:r>
            <a:r>
              <a:rPr lang="en-US" dirty="0" err="1"/>
              <a:t>ekor</a:t>
            </a:r>
            <a:r>
              <a:rPr lang="en-US" dirty="0"/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0670D25-3FBC-CEC1-661F-ECFA30954F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3219" y="2999580"/>
            <a:ext cx="3801981" cy="2946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06322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BA008A-C0AB-FC1E-F448-89BF19B856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Analogi</a:t>
            </a:r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BD08CB-2FB6-0C79-500A-FCE0292110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melihat</a:t>
            </a:r>
            <a:r>
              <a:rPr lang="en-US" dirty="0"/>
              <a:t> </a:t>
            </a:r>
            <a:r>
              <a:rPr lang="en-US" dirty="0" err="1"/>
              <a:t>kemiripan</a:t>
            </a:r>
            <a:r>
              <a:rPr lang="en-US" dirty="0"/>
              <a:t>/similarity </a:t>
            </a:r>
            <a:r>
              <a:rPr lang="en-US" dirty="0" err="1"/>
              <a:t>Objek</a:t>
            </a:r>
            <a:r>
              <a:rPr lang="en-US" dirty="0"/>
              <a:t> X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objek</a:t>
            </a:r>
            <a:r>
              <a:rPr lang="en-US" dirty="0"/>
              <a:t> yang </a:t>
            </a:r>
            <a:r>
              <a:rPr lang="en-US" dirty="0" err="1"/>
              <a:t>sudah</a:t>
            </a:r>
            <a:r>
              <a:rPr lang="en-US" dirty="0"/>
              <a:t> </a:t>
            </a:r>
            <a:r>
              <a:rPr lang="en-US" dirty="0" err="1"/>
              <a:t>diketahui</a:t>
            </a:r>
            <a:r>
              <a:rPr lang="en-US" dirty="0"/>
              <a:t> </a:t>
            </a:r>
            <a:r>
              <a:rPr lang="en-US" dirty="0" err="1"/>
              <a:t>kelasnya</a:t>
            </a:r>
            <a:r>
              <a:rPr lang="en-US" dirty="0"/>
              <a:t> (Singa dan </a:t>
            </a:r>
            <a:r>
              <a:rPr lang="en-US" dirty="0" err="1"/>
              <a:t>Kambing</a:t>
            </a:r>
            <a:r>
              <a:rPr lang="en-US" dirty="0"/>
              <a:t>),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dismpulkan</a:t>
            </a:r>
            <a:r>
              <a:rPr lang="en-US" dirty="0"/>
              <a:t> </a:t>
            </a:r>
            <a:r>
              <a:rPr lang="en-US" dirty="0" err="1"/>
              <a:t>bahwa</a:t>
            </a:r>
            <a:r>
              <a:rPr lang="en-US" dirty="0"/>
              <a:t> </a:t>
            </a:r>
            <a:r>
              <a:rPr lang="en-US" dirty="0" err="1"/>
              <a:t>objek</a:t>
            </a:r>
            <a:r>
              <a:rPr lang="en-US" dirty="0"/>
              <a:t> X </a:t>
            </a:r>
            <a:r>
              <a:rPr lang="en-US" dirty="0" err="1"/>
              <a:t>tersebut</a:t>
            </a:r>
            <a:r>
              <a:rPr lang="en-US" dirty="0"/>
              <a:t> </a:t>
            </a:r>
            <a:r>
              <a:rPr lang="en-US" dirty="0" err="1"/>
              <a:t>masuk</a:t>
            </a:r>
            <a:r>
              <a:rPr lang="en-US" dirty="0"/>
              <a:t> </a:t>
            </a:r>
            <a:r>
              <a:rPr lang="en-US" dirty="0" err="1"/>
              <a:t>ke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kelas</a:t>
            </a:r>
            <a:r>
              <a:rPr lang="en-US" dirty="0"/>
              <a:t> Singa. Karena </a:t>
            </a:r>
            <a:r>
              <a:rPr lang="en-US" dirty="0" err="1"/>
              <a:t>nilai</a:t>
            </a:r>
            <a:r>
              <a:rPr lang="en-US" dirty="0"/>
              <a:t> similarity pada </a:t>
            </a:r>
            <a:r>
              <a:rPr lang="en-US" dirty="0" err="1"/>
              <a:t>kelas</a:t>
            </a:r>
            <a:r>
              <a:rPr lang="en-US" dirty="0"/>
              <a:t> </a:t>
            </a:r>
            <a:r>
              <a:rPr lang="en-US" dirty="0" err="1"/>
              <a:t>kambing</a:t>
            </a:r>
            <a:r>
              <a:rPr lang="en-US" dirty="0"/>
              <a:t> (2 </a:t>
            </a:r>
            <a:r>
              <a:rPr lang="en-US" dirty="0" err="1"/>
              <a:t>Kemiripan</a:t>
            </a:r>
            <a:r>
              <a:rPr lang="en-US" dirty="0"/>
              <a:t>).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095BA91-7391-C3FB-CCE2-438AD1C96B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1460" y="3188368"/>
            <a:ext cx="4789079" cy="3192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81994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FDD5CA-9EF4-9D56-B325-58F6412ECE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err="1"/>
              <a:t>Rumus</a:t>
            </a:r>
            <a:r>
              <a:rPr lang="en-US" dirty="0"/>
              <a:t> Euclidean Distance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045FB0-9706-F451-2E00-D143DE040E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Dimana </a:t>
            </a:r>
          </a:p>
          <a:p>
            <a:pPr lvl="1"/>
            <a:r>
              <a:rPr lang="en-US" dirty="0"/>
              <a:t>d(</a:t>
            </a:r>
            <a:r>
              <a:rPr lang="en-US" dirty="0" err="1"/>
              <a:t>x,y</a:t>
            </a:r>
            <a:r>
              <a:rPr lang="en-US" dirty="0"/>
              <a:t>) </a:t>
            </a:r>
            <a:r>
              <a:rPr lang="en-US" dirty="0" err="1"/>
              <a:t>adalah</a:t>
            </a:r>
            <a:r>
              <a:rPr lang="en-US" dirty="0"/>
              <a:t> </a:t>
            </a:r>
            <a:r>
              <a:rPr lang="en-US" dirty="0" err="1"/>
              <a:t>jarak</a:t>
            </a:r>
            <a:r>
              <a:rPr lang="en-US" dirty="0"/>
              <a:t> </a:t>
            </a:r>
            <a:r>
              <a:rPr lang="en-US" dirty="0" err="1"/>
              <a:t>antara</a:t>
            </a:r>
            <a:r>
              <a:rPr lang="en-US" dirty="0"/>
              <a:t> data x </a:t>
            </a:r>
            <a:r>
              <a:rPr lang="en-US" dirty="0" err="1"/>
              <a:t>ke</a:t>
            </a:r>
            <a:r>
              <a:rPr lang="en-US" dirty="0"/>
              <a:t> data y</a:t>
            </a:r>
          </a:p>
          <a:p>
            <a:pPr lvl="1"/>
            <a:r>
              <a:rPr lang="en-US" dirty="0"/>
              <a:t>X</a:t>
            </a:r>
            <a:r>
              <a:rPr lang="en-US" baseline="-25000" dirty="0"/>
              <a:t>i  </a:t>
            </a:r>
            <a:r>
              <a:rPr lang="en-US" dirty="0" err="1"/>
              <a:t>adalah</a:t>
            </a:r>
            <a:r>
              <a:rPr lang="en-US" dirty="0"/>
              <a:t> data testing </a:t>
            </a:r>
            <a:r>
              <a:rPr lang="en-US" dirty="0" err="1"/>
              <a:t>ke-i</a:t>
            </a:r>
            <a:endParaRPr lang="en-US" dirty="0"/>
          </a:p>
          <a:p>
            <a:pPr lvl="1"/>
            <a:r>
              <a:rPr lang="en-US" dirty="0" err="1"/>
              <a:t>y</a:t>
            </a:r>
            <a:r>
              <a:rPr lang="en-US" baseline="-25000" dirty="0" err="1"/>
              <a:t>i</a:t>
            </a:r>
            <a:r>
              <a:rPr lang="en-US" dirty="0"/>
              <a:t> </a:t>
            </a:r>
            <a:r>
              <a:rPr lang="en-US" dirty="0" err="1"/>
              <a:t>adalah</a:t>
            </a:r>
            <a:r>
              <a:rPr lang="en-US" dirty="0"/>
              <a:t> data training </a:t>
            </a:r>
            <a:r>
              <a:rPr lang="en-US" dirty="0" err="1"/>
              <a:t>ke-i</a:t>
            </a:r>
            <a:endParaRPr lang="en-US" dirty="0"/>
          </a:p>
          <a:p>
            <a:pPr marL="274320" lvl="1" indent="0">
              <a:buNone/>
            </a:pPr>
            <a:endParaRPr lang="en-US" dirty="0"/>
          </a:p>
          <a:p>
            <a:r>
              <a:rPr lang="en-US" dirty="0"/>
              <a:t>Langkah-Langkah </a:t>
            </a:r>
            <a:r>
              <a:rPr lang="en-US" dirty="0" err="1"/>
              <a:t>algoritma</a:t>
            </a:r>
            <a:r>
              <a:rPr lang="en-US" dirty="0"/>
              <a:t> k-NN: </a:t>
            </a:r>
          </a:p>
          <a:p>
            <a:pPr lvl="1"/>
            <a:r>
              <a:rPr lang="en-US" dirty="0" err="1"/>
              <a:t>Tentukan</a:t>
            </a:r>
            <a:r>
              <a:rPr lang="en-US" dirty="0"/>
              <a:t> </a:t>
            </a:r>
            <a:r>
              <a:rPr lang="en-US" dirty="0" err="1"/>
              <a:t>nilia</a:t>
            </a:r>
            <a:r>
              <a:rPr lang="en-US" dirty="0"/>
              <a:t> parameter k(</a:t>
            </a:r>
            <a:r>
              <a:rPr lang="en-US" dirty="0" err="1"/>
              <a:t>nilai</a:t>
            </a:r>
            <a:r>
              <a:rPr lang="en-US" dirty="0"/>
              <a:t> k </a:t>
            </a:r>
            <a:r>
              <a:rPr lang="en-US" dirty="0" err="1"/>
              <a:t>dipilih</a:t>
            </a:r>
            <a:r>
              <a:rPr lang="en-US" dirty="0"/>
              <a:t> </a:t>
            </a:r>
            <a:r>
              <a:rPr lang="en-US" dirty="0" err="1"/>
              <a:t>secara</a:t>
            </a:r>
            <a:r>
              <a:rPr lang="en-US" dirty="0"/>
              <a:t> manual)</a:t>
            </a:r>
          </a:p>
          <a:p>
            <a:pPr lvl="1"/>
            <a:r>
              <a:rPr lang="en-US" dirty="0" err="1"/>
              <a:t>Hitung</a:t>
            </a:r>
            <a:r>
              <a:rPr lang="en-US" dirty="0"/>
              <a:t> </a:t>
            </a:r>
            <a:r>
              <a:rPr lang="en-US" dirty="0" err="1"/>
              <a:t>jarak</a:t>
            </a:r>
            <a:r>
              <a:rPr lang="en-US" dirty="0"/>
              <a:t> </a:t>
            </a:r>
            <a:r>
              <a:rPr lang="en-US" dirty="0" err="1"/>
              <a:t>antara</a:t>
            </a:r>
            <a:r>
              <a:rPr lang="en-US" dirty="0"/>
              <a:t> data training dan data testing (</a:t>
            </a:r>
            <a:r>
              <a:rPr lang="en-US" dirty="0" err="1"/>
              <a:t>metode</a:t>
            </a:r>
            <a:r>
              <a:rPr lang="en-US" dirty="0"/>
              <a:t> Euclidean distance </a:t>
            </a:r>
            <a:r>
              <a:rPr lang="en-US" dirty="0" err="1"/>
              <a:t>digunakan</a:t>
            </a:r>
            <a:r>
              <a:rPr lang="en-US" dirty="0"/>
              <a:t> Sebagian </a:t>
            </a:r>
            <a:r>
              <a:rPr lang="en-US" dirty="0" err="1"/>
              <a:t>besat</a:t>
            </a:r>
            <a:r>
              <a:rPr lang="en-US" dirty="0"/>
              <a:t> </a:t>
            </a:r>
            <a:r>
              <a:rPr lang="en-US" dirty="0" err="1"/>
              <a:t>peneliti</a:t>
            </a:r>
            <a:r>
              <a:rPr lang="en-US" dirty="0"/>
              <a:t>).</a:t>
            </a:r>
          </a:p>
          <a:p>
            <a:pPr lvl="1"/>
            <a:r>
              <a:rPr lang="en-US" dirty="0" err="1"/>
              <a:t>Urutkan</a:t>
            </a:r>
            <a:r>
              <a:rPr lang="en-US" dirty="0"/>
              <a:t> data training </a:t>
            </a:r>
            <a:r>
              <a:rPr lang="en-US" dirty="0" err="1"/>
              <a:t>berdasarkan</a:t>
            </a:r>
            <a:r>
              <a:rPr lang="en-US" dirty="0"/>
              <a:t> </a:t>
            </a:r>
            <a:r>
              <a:rPr lang="en-US" dirty="0" err="1"/>
              <a:t>jarak</a:t>
            </a:r>
            <a:r>
              <a:rPr lang="en-US" dirty="0"/>
              <a:t> </a:t>
            </a:r>
            <a:r>
              <a:rPr lang="en-US" dirty="0" err="1"/>
              <a:t>terkecil</a:t>
            </a:r>
            <a:endParaRPr lang="en-US" dirty="0"/>
          </a:p>
          <a:p>
            <a:pPr lvl="1"/>
            <a:r>
              <a:rPr lang="en-US" dirty="0" err="1"/>
              <a:t>Menetapkan</a:t>
            </a:r>
            <a:r>
              <a:rPr lang="en-US" dirty="0"/>
              <a:t> </a:t>
            </a:r>
            <a:r>
              <a:rPr lang="en-US" dirty="0" err="1"/>
              <a:t>kelas</a:t>
            </a:r>
            <a:r>
              <a:rPr lang="en-US" dirty="0"/>
              <a:t>, </a:t>
            </a:r>
            <a:r>
              <a:rPr lang="en-US" dirty="0" err="1"/>
              <a:t>dimana</a:t>
            </a:r>
            <a:r>
              <a:rPr lang="en-US" dirty="0"/>
              <a:t> </a:t>
            </a:r>
            <a:r>
              <a:rPr lang="en-US" dirty="0" err="1"/>
              <a:t>kelas</a:t>
            </a:r>
            <a:r>
              <a:rPr lang="en-US" dirty="0"/>
              <a:t> yang </a:t>
            </a:r>
            <a:r>
              <a:rPr lang="en-US" dirty="0" err="1"/>
              <a:t>dipilih</a:t>
            </a:r>
            <a:r>
              <a:rPr lang="en-US" dirty="0"/>
              <a:t> </a:t>
            </a:r>
            <a:r>
              <a:rPr lang="en-US" dirty="0" err="1"/>
              <a:t>adalah</a:t>
            </a:r>
            <a:r>
              <a:rPr lang="en-US" dirty="0"/>
              <a:t> </a:t>
            </a:r>
            <a:r>
              <a:rPr lang="en-US" dirty="0" err="1"/>
              <a:t>kelas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jumlah</a:t>
            </a:r>
            <a:r>
              <a:rPr lang="en-US" dirty="0"/>
              <a:t> </a:t>
            </a:r>
            <a:r>
              <a:rPr lang="en-US" dirty="0" err="1"/>
              <a:t>nilai</a:t>
            </a:r>
            <a:r>
              <a:rPr lang="en-US" dirty="0"/>
              <a:t> k </a:t>
            </a:r>
            <a:r>
              <a:rPr lang="en-US" dirty="0" err="1"/>
              <a:t>terbanyak</a:t>
            </a:r>
            <a:r>
              <a:rPr lang="en-US" dirty="0"/>
              <a:t> pada data testing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A0D355F-D3C4-FC76-8AD6-D3E4799948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8277" y="1882242"/>
            <a:ext cx="3920354" cy="1821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88690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575C28-399C-C460-705E-2666510ED7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Perhitungan</a:t>
            </a:r>
            <a:r>
              <a:rPr lang="en-US" dirty="0"/>
              <a:t> K-NN (1)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FFE2F2-35BE-0A1B-DC3D-9A159F174E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Dataset </a:t>
            </a:r>
            <a:r>
              <a:rPr lang="en-US" dirty="0" err="1"/>
              <a:t>dibagi</a:t>
            </a:r>
            <a:r>
              <a:rPr lang="en-US" dirty="0"/>
              <a:t> </a:t>
            </a:r>
            <a:r>
              <a:rPr lang="en-US" dirty="0" err="1"/>
              <a:t>menjadi</a:t>
            </a:r>
            <a:r>
              <a:rPr lang="en-US" dirty="0"/>
              <a:t> dua </a:t>
            </a:r>
            <a:r>
              <a:rPr lang="en-US" dirty="0" err="1"/>
              <a:t>bagian</a:t>
            </a:r>
            <a:r>
              <a:rPr lang="en-US" dirty="0"/>
              <a:t>, </a:t>
            </a:r>
            <a:r>
              <a:rPr lang="en-US" dirty="0" err="1"/>
              <a:t>yaitu</a:t>
            </a:r>
            <a:r>
              <a:rPr lang="en-US" dirty="0"/>
              <a:t> data training dan data testing. </a:t>
            </a:r>
          </a:p>
          <a:p>
            <a:r>
              <a:rPr lang="en-US" dirty="0"/>
              <a:t>Data training data yang </a:t>
            </a:r>
            <a:r>
              <a:rPr lang="en-US" dirty="0" err="1"/>
              <a:t>sudah</a:t>
            </a:r>
            <a:r>
              <a:rPr lang="en-US" dirty="0"/>
              <a:t> </a:t>
            </a:r>
            <a:r>
              <a:rPr lang="en-US" dirty="0" err="1"/>
              <a:t>mempunyai</a:t>
            </a:r>
            <a:r>
              <a:rPr lang="en-US" dirty="0"/>
              <a:t> </a:t>
            </a:r>
            <a:r>
              <a:rPr lang="en-US" dirty="0" err="1"/>
              <a:t>kelas</a:t>
            </a:r>
            <a:r>
              <a:rPr lang="en-US" dirty="0"/>
              <a:t>, </a:t>
            </a:r>
            <a:r>
              <a:rPr lang="en-US" dirty="0" err="1"/>
              <a:t>sedangkan</a:t>
            </a:r>
            <a:r>
              <a:rPr lang="en-US" dirty="0"/>
              <a:t> data testing </a:t>
            </a:r>
            <a:r>
              <a:rPr lang="en-US" dirty="0" err="1"/>
              <a:t>adalah</a:t>
            </a:r>
            <a:r>
              <a:rPr lang="en-US" dirty="0"/>
              <a:t> data yang </a:t>
            </a:r>
            <a:r>
              <a:rPr lang="en-US" dirty="0" err="1"/>
              <a:t>akan</a:t>
            </a:r>
            <a:r>
              <a:rPr lang="en-US" dirty="0"/>
              <a:t> </a:t>
            </a:r>
            <a:r>
              <a:rPr lang="en-US" dirty="0" err="1"/>
              <a:t>dicari</a:t>
            </a:r>
            <a:r>
              <a:rPr lang="en-US" dirty="0"/>
              <a:t> </a:t>
            </a:r>
            <a:r>
              <a:rPr lang="en-US" dirty="0" err="1"/>
              <a:t>kelasnya</a:t>
            </a:r>
            <a:r>
              <a:rPr lang="en-US" dirty="0"/>
              <a:t>. </a:t>
            </a:r>
          </a:p>
          <a:p>
            <a:r>
              <a:rPr lang="en-US" dirty="0"/>
              <a:t>Data training </a:t>
            </a:r>
            <a:r>
              <a:rPr lang="en-US" dirty="0" err="1"/>
              <a:t>akan</a:t>
            </a:r>
            <a:r>
              <a:rPr lang="en-US" dirty="0"/>
              <a:t> </a:t>
            </a:r>
            <a:r>
              <a:rPr lang="en-US" dirty="0" err="1"/>
              <a:t>membentuk</a:t>
            </a:r>
            <a:r>
              <a:rPr lang="en-US" dirty="0"/>
              <a:t> model/</a:t>
            </a:r>
            <a:r>
              <a:rPr lang="en-US" dirty="0" err="1"/>
              <a:t>pola</a:t>
            </a:r>
            <a:r>
              <a:rPr lang="en-US" dirty="0"/>
              <a:t>/</a:t>
            </a:r>
            <a:r>
              <a:rPr lang="en-US" dirty="0" err="1"/>
              <a:t>pengetahuan</a:t>
            </a:r>
            <a:r>
              <a:rPr lang="en-US" dirty="0"/>
              <a:t>, </a:t>
            </a:r>
            <a:r>
              <a:rPr lang="en-US" dirty="0" err="1"/>
              <a:t>sedangkan</a:t>
            </a:r>
            <a:r>
              <a:rPr lang="en-US" dirty="0"/>
              <a:t> data testing </a:t>
            </a:r>
            <a:r>
              <a:rPr lang="en-US" dirty="0" err="1"/>
              <a:t>digunakan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pengukuran</a:t>
            </a:r>
            <a:r>
              <a:rPr lang="en-US" dirty="0"/>
              <a:t> </a:t>
            </a:r>
            <a:r>
              <a:rPr lang="en-US" dirty="0" err="1"/>
              <a:t>evaluasi</a:t>
            </a:r>
            <a:r>
              <a:rPr lang="en-US" dirty="0"/>
              <a:t> </a:t>
            </a:r>
            <a:r>
              <a:rPr lang="en-US" dirty="0" err="1"/>
              <a:t>algoritma</a:t>
            </a:r>
            <a:r>
              <a:rPr lang="en-US" dirty="0"/>
              <a:t>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00565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1709CC-AE30-43A5-F159-42CFBF3AFE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Perhitungan</a:t>
            </a:r>
            <a:r>
              <a:rPr lang="en-US" dirty="0"/>
              <a:t> K-NN (2)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4B061C-30BD-950F-F6C1-94B34CF30D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Berikut</a:t>
            </a:r>
            <a:r>
              <a:rPr lang="en-US" dirty="0"/>
              <a:t> </a:t>
            </a:r>
            <a:r>
              <a:rPr lang="en-US" dirty="0" err="1"/>
              <a:t>tabel</a:t>
            </a:r>
            <a:r>
              <a:rPr lang="en-US" dirty="0"/>
              <a:t> </a:t>
            </a:r>
            <a:r>
              <a:rPr lang="en-US" dirty="0" err="1"/>
              <a:t>sebelah</a:t>
            </a:r>
            <a:r>
              <a:rPr lang="en-US" dirty="0"/>
              <a:t> kiri </a:t>
            </a:r>
            <a:r>
              <a:rPr lang="en-US" dirty="0" err="1"/>
              <a:t>merupakan</a:t>
            </a:r>
            <a:r>
              <a:rPr lang="en-US" dirty="0"/>
              <a:t> data training dan </a:t>
            </a:r>
            <a:r>
              <a:rPr lang="en-US" dirty="0" err="1"/>
              <a:t>tabel</a:t>
            </a:r>
            <a:r>
              <a:rPr lang="en-US" dirty="0"/>
              <a:t> </a:t>
            </a:r>
            <a:r>
              <a:rPr lang="en-US" dirty="0" err="1"/>
              <a:t>sebelah</a:t>
            </a:r>
            <a:r>
              <a:rPr lang="en-US" dirty="0"/>
              <a:t> </a:t>
            </a:r>
            <a:r>
              <a:rPr lang="en-US" dirty="0" err="1"/>
              <a:t>kanan</a:t>
            </a:r>
            <a:r>
              <a:rPr lang="en-US" dirty="0"/>
              <a:t> data testing.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8F6848A-C2C3-AF6D-A61B-20653CBC05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0595" y="2666960"/>
            <a:ext cx="2197906" cy="225426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53E4B2E-4F7F-2B92-A5CC-E232D2CFE1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3501" y="2832060"/>
            <a:ext cx="2643372" cy="965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28873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51AEC5-E561-7527-BDEE-78B5C438A2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1. </a:t>
            </a:r>
            <a:r>
              <a:rPr lang="en-US" dirty="0" err="1"/>
              <a:t>Tentukan</a:t>
            </a:r>
            <a:r>
              <a:rPr lang="en-US" dirty="0"/>
              <a:t> Nilai Parameter 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7FE521-C824-A3C1-AFB1-F2901D5D81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Nilai parameter k pada </a:t>
            </a:r>
            <a:r>
              <a:rPr lang="en-US" dirty="0" err="1"/>
              <a:t>kasus</a:t>
            </a:r>
            <a:r>
              <a:rPr lang="en-US" dirty="0"/>
              <a:t> </a:t>
            </a:r>
            <a:r>
              <a:rPr lang="en-US" dirty="0" err="1"/>
              <a:t>ini</a:t>
            </a:r>
            <a:r>
              <a:rPr lang="en-US" dirty="0"/>
              <a:t> </a:t>
            </a:r>
            <a:r>
              <a:rPr lang="en-US" dirty="0" err="1"/>
              <a:t>adalah</a:t>
            </a:r>
            <a:r>
              <a:rPr lang="en-US" dirty="0"/>
              <a:t> 3. </a:t>
            </a:r>
          </a:p>
          <a:p>
            <a:r>
              <a:rPr lang="en-US" dirty="0"/>
              <a:t>Jadi </a:t>
            </a:r>
            <a:r>
              <a:rPr lang="en-US" dirty="0" err="1"/>
              <a:t>kita</a:t>
            </a:r>
            <a:r>
              <a:rPr lang="en-US" dirty="0"/>
              <a:t> </a:t>
            </a:r>
            <a:r>
              <a:rPr lang="en-US" dirty="0" err="1"/>
              <a:t>akan</a:t>
            </a:r>
            <a:r>
              <a:rPr lang="en-US" dirty="0"/>
              <a:t> </a:t>
            </a:r>
            <a:r>
              <a:rPr lang="en-US" dirty="0" err="1"/>
              <a:t>menyimpulkan</a:t>
            </a:r>
            <a:r>
              <a:rPr lang="en-US" dirty="0"/>
              <a:t> data testing yang </a:t>
            </a:r>
            <a:r>
              <a:rPr lang="en-US" dirty="0" err="1"/>
              <a:t>kita</a:t>
            </a:r>
            <a:r>
              <a:rPr lang="en-US" dirty="0"/>
              <a:t> </a:t>
            </a:r>
            <a:r>
              <a:rPr lang="en-US" dirty="0" err="1"/>
              <a:t>cari</a:t>
            </a:r>
            <a:r>
              <a:rPr lang="en-US" dirty="0"/>
              <a:t> </a:t>
            </a:r>
            <a:r>
              <a:rPr lang="en-US" dirty="0" err="1"/>
              <a:t>kelasnya</a:t>
            </a:r>
            <a:r>
              <a:rPr lang="en-US" dirty="0"/>
              <a:t> </a:t>
            </a:r>
            <a:r>
              <a:rPr lang="en-US" dirty="0" err="1"/>
              <a:t>tersebut</a:t>
            </a:r>
            <a:r>
              <a:rPr lang="en-US" dirty="0"/>
              <a:t> </a:t>
            </a:r>
            <a:r>
              <a:rPr lang="en-US" dirty="0" err="1"/>
              <a:t>berdasarkan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tiga</a:t>
            </a:r>
            <a:r>
              <a:rPr lang="en-US" dirty="0"/>
              <a:t> data training </a:t>
            </a:r>
            <a:r>
              <a:rPr lang="en-US" dirty="0" err="1"/>
              <a:t>terdekat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data testing. 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5FF3743-DDA8-D638-1C0E-1E1ADB2596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3664" y="3514051"/>
            <a:ext cx="3544671" cy="2701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82947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EBA4E6-8589-8D8D-5274-9D9A80D85E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2. </a:t>
            </a:r>
            <a:r>
              <a:rPr lang="en-US" dirty="0" err="1"/>
              <a:t>Hitung</a:t>
            </a:r>
            <a:r>
              <a:rPr lang="en-US" dirty="0"/>
              <a:t> Jarak </a:t>
            </a:r>
            <a:r>
              <a:rPr lang="en-US" dirty="0" err="1"/>
              <a:t>antara</a:t>
            </a:r>
            <a:r>
              <a:rPr lang="en-US" dirty="0"/>
              <a:t> Data Training dan Data Testing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1ECBC8-DF05-49A7-5DED-0F50710BFF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Perhitungan</a:t>
            </a:r>
            <a:r>
              <a:rPr lang="en-US" dirty="0"/>
              <a:t> Jarak yang </a:t>
            </a:r>
            <a:r>
              <a:rPr lang="en-US" dirty="0" err="1"/>
              <a:t>digunakan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mengukur</a:t>
            </a:r>
            <a:r>
              <a:rPr lang="en-US" dirty="0"/>
              <a:t> </a:t>
            </a:r>
            <a:r>
              <a:rPr lang="en-US" dirty="0" err="1"/>
              <a:t>jarak</a:t>
            </a:r>
            <a:r>
              <a:rPr lang="en-US" dirty="0"/>
              <a:t> </a:t>
            </a:r>
            <a:r>
              <a:rPr lang="en-US" dirty="0" err="1"/>
              <a:t>antara</a:t>
            </a:r>
            <a:r>
              <a:rPr lang="en-US" dirty="0"/>
              <a:t> data training dan data testing </a:t>
            </a:r>
            <a:r>
              <a:rPr lang="en-US" dirty="0" err="1"/>
              <a:t>adalah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Euclidean distance yang </a:t>
            </a:r>
            <a:r>
              <a:rPr lang="en-US" dirty="0" err="1"/>
              <a:t>bisa</a:t>
            </a:r>
            <a:r>
              <a:rPr lang="en-US" dirty="0"/>
              <a:t> </a:t>
            </a:r>
            <a:r>
              <a:rPr lang="en-US" dirty="0" err="1"/>
              <a:t>kita</a:t>
            </a:r>
            <a:r>
              <a:rPr lang="en-US" dirty="0"/>
              <a:t> </a:t>
            </a:r>
            <a:r>
              <a:rPr lang="en-US" dirty="0" err="1"/>
              <a:t>lihat</a:t>
            </a:r>
            <a:r>
              <a:rPr lang="en-US" dirty="0"/>
              <a:t> pada </a:t>
            </a:r>
            <a:r>
              <a:rPr lang="en-US" dirty="0" err="1"/>
              <a:t>persamaan</a:t>
            </a:r>
            <a:r>
              <a:rPr lang="en-US" dirty="0"/>
              <a:t> </a:t>
            </a:r>
            <a:r>
              <a:rPr lang="en-US" dirty="0" err="1"/>
              <a:t>berikut</a:t>
            </a:r>
            <a:r>
              <a:rPr lang="en-US" dirty="0"/>
              <a:t>, </a:t>
            </a:r>
            <a:r>
              <a:rPr lang="en-US" dirty="0" err="1"/>
              <a:t>hasil</a:t>
            </a:r>
            <a:r>
              <a:rPr lang="en-US" dirty="0"/>
              <a:t> </a:t>
            </a:r>
            <a:r>
              <a:rPr lang="en-US" dirty="0" err="1"/>
              <a:t>berikut</a:t>
            </a:r>
            <a:r>
              <a:rPr lang="en-US" dirty="0"/>
              <a:t> </a:t>
            </a:r>
            <a:r>
              <a:rPr lang="en-US" dirty="0" err="1"/>
              <a:t>menunjukkan</a:t>
            </a:r>
            <a:r>
              <a:rPr lang="en-US" dirty="0"/>
              <a:t> </a:t>
            </a:r>
            <a:r>
              <a:rPr lang="en-US" dirty="0" err="1"/>
              <a:t>jarak</a:t>
            </a:r>
            <a:r>
              <a:rPr lang="en-US" dirty="0"/>
              <a:t> </a:t>
            </a:r>
            <a:r>
              <a:rPr lang="en-US" dirty="0" err="1"/>
              <a:t>antara</a:t>
            </a:r>
            <a:r>
              <a:rPr lang="en-US" dirty="0"/>
              <a:t> data training </a:t>
            </a:r>
            <a:r>
              <a:rPr lang="en-US" dirty="0" err="1"/>
              <a:t>ke</a:t>
            </a:r>
            <a:r>
              <a:rPr lang="en-US" dirty="0"/>
              <a:t> data testing.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5868F0E-CC56-AC25-A987-096CBBBE50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3586" y="3247861"/>
            <a:ext cx="5050474" cy="2632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85953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58FBC2-773D-A687-E98B-8A5101E49C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3. </a:t>
            </a:r>
            <a:r>
              <a:rPr lang="en-US" dirty="0" err="1"/>
              <a:t>Urutkan</a:t>
            </a:r>
            <a:r>
              <a:rPr lang="en-US" dirty="0"/>
              <a:t> Data </a:t>
            </a:r>
            <a:r>
              <a:rPr lang="en-US" dirty="0" err="1"/>
              <a:t>Berdasarkan</a:t>
            </a:r>
            <a:r>
              <a:rPr lang="en-US" dirty="0"/>
              <a:t> Jarak </a:t>
            </a:r>
            <a:r>
              <a:rPr lang="en-US" dirty="0" err="1"/>
              <a:t>Terkecil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3F7CC2-F58C-4676-F496-2D09C51618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 </a:t>
            </a:r>
            <a:r>
              <a:rPr lang="en-US" dirty="0" err="1"/>
              <a:t>diurutkan</a:t>
            </a:r>
            <a:r>
              <a:rPr lang="en-US" dirty="0"/>
              <a:t> </a:t>
            </a:r>
            <a:r>
              <a:rPr lang="en-US" dirty="0" err="1"/>
              <a:t>secara</a:t>
            </a:r>
            <a:r>
              <a:rPr lang="en-US" dirty="0"/>
              <a:t> ascending (naik) </a:t>
            </a:r>
            <a:r>
              <a:rPr lang="en-US" dirty="0" err="1"/>
              <a:t>berdasarkan</a:t>
            </a:r>
            <a:r>
              <a:rPr lang="en-US" dirty="0"/>
              <a:t> </a:t>
            </a:r>
            <a:r>
              <a:rPr lang="en-US" dirty="0" err="1"/>
              <a:t>jarak</a:t>
            </a:r>
            <a:r>
              <a:rPr lang="en-US" dirty="0"/>
              <a:t> </a:t>
            </a:r>
            <a:r>
              <a:rPr lang="en-US" dirty="0" err="1"/>
              <a:t>terkecil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data training </a:t>
            </a:r>
            <a:r>
              <a:rPr lang="en-US" dirty="0" err="1"/>
              <a:t>ke</a:t>
            </a:r>
            <a:r>
              <a:rPr lang="en-US" dirty="0"/>
              <a:t> data testing.  Tabel </a:t>
            </a:r>
            <a:r>
              <a:rPr lang="en-US" dirty="0" err="1"/>
              <a:t>pertama</a:t>
            </a:r>
            <a:r>
              <a:rPr lang="en-US" dirty="0"/>
              <a:t> </a:t>
            </a:r>
            <a:r>
              <a:rPr lang="en-US" dirty="0" err="1"/>
              <a:t>jarak</a:t>
            </a:r>
            <a:r>
              <a:rPr lang="en-US" dirty="0"/>
              <a:t> data training </a:t>
            </a:r>
            <a:r>
              <a:rPr lang="en-US" dirty="0" err="1"/>
              <a:t>ke</a:t>
            </a:r>
            <a:r>
              <a:rPr lang="en-US" dirty="0"/>
              <a:t> data testing dan </a:t>
            </a:r>
            <a:r>
              <a:rPr lang="en-US" dirty="0" err="1"/>
              <a:t>tabel</a:t>
            </a:r>
            <a:r>
              <a:rPr lang="en-US" dirty="0"/>
              <a:t> </a:t>
            </a:r>
            <a:r>
              <a:rPr lang="en-US" dirty="0" err="1"/>
              <a:t>kedua</a:t>
            </a:r>
            <a:r>
              <a:rPr lang="en-US" dirty="0"/>
              <a:t> </a:t>
            </a:r>
            <a:r>
              <a:rPr lang="en-US" dirty="0" err="1"/>
              <a:t>merupakan</a:t>
            </a:r>
            <a:r>
              <a:rPr lang="en-US" dirty="0"/>
              <a:t> </a:t>
            </a:r>
            <a:r>
              <a:rPr lang="en-US" dirty="0" err="1"/>
              <a:t>urutan</a:t>
            </a:r>
            <a:r>
              <a:rPr lang="en-US" dirty="0"/>
              <a:t> data </a:t>
            </a:r>
            <a:r>
              <a:rPr lang="en-US" dirty="0" err="1"/>
              <a:t>berdasarkan</a:t>
            </a:r>
            <a:r>
              <a:rPr lang="en-US" dirty="0"/>
              <a:t> </a:t>
            </a:r>
            <a:r>
              <a:rPr lang="en-US" dirty="0" err="1"/>
              <a:t>jarak</a:t>
            </a:r>
            <a:r>
              <a:rPr lang="en-US" dirty="0"/>
              <a:t> </a:t>
            </a:r>
            <a:r>
              <a:rPr lang="en-US" dirty="0" err="1"/>
              <a:t>terkecil</a:t>
            </a:r>
            <a:r>
              <a:rPr lang="en-US" dirty="0"/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32353CF-66CB-10F6-965C-0F43929C2C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4627" y="3141862"/>
            <a:ext cx="4762745" cy="177809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DD8444E-D538-800D-D7DC-AC7A5C65DC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4627" y="5008879"/>
            <a:ext cx="4750044" cy="1701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06384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ED9D47-0A28-CBC3-347C-FB8CE608A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4. </a:t>
            </a:r>
            <a:r>
              <a:rPr lang="en-US" dirty="0" err="1"/>
              <a:t>Menetapkan</a:t>
            </a:r>
            <a:r>
              <a:rPr lang="en-US" dirty="0"/>
              <a:t> </a:t>
            </a:r>
            <a:r>
              <a:rPr lang="en-US" dirty="0" err="1"/>
              <a:t>Kelas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5850C3-91E1-4F9F-7233-EE163FB58C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Setelah</a:t>
            </a:r>
            <a:r>
              <a:rPr lang="en-US" dirty="0"/>
              <a:t> data training </a:t>
            </a:r>
            <a:r>
              <a:rPr lang="en-US" dirty="0" err="1"/>
              <a:t>diurutkan</a:t>
            </a:r>
            <a:r>
              <a:rPr lang="en-US" dirty="0"/>
              <a:t> </a:t>
            </a:r>
            <a:r>
              <a:rPr lang="en-US" dirty="0" err="1"/>
              <a:t>berdasarkan</a:t>
            </a:r>
            <a:r>
              <a:rPr lang="en-US" dirty="0"/>
              <a:t> </a:t>
            </a:r>
            <a:r>
              <a:rPr lang="en-US" dirty="0" err="1"/>
              <a:t>jarak</a:t>
            </a:r>
            <a:r>
              <a:rPr lang="en-US" dirty="0"/>
              <a:t> </a:t>
            </a:r>
            <a:r>
              <a:rPr lang="en-US" dirty="0" err="1"/>
              <a:t>terkecil</a:t>
            </a:r>
            <a:r>
              <a:rPr lang="en-US" dirty="0"/>
              <a:t>, </a:t>
            </a:r>
            <a:r>
              <a:rPr lang="en-US" dirty="0" err="1"/>
              <a:t>langkah</a:t>
            </a:r>
            <a:r>
              <a:rPr lang="en-US" dirty="0"/>
              <a:t> </a:t>
            </a:r>
            <a:r>
              <a:rPr lang="en-US" dirty="0" err="1"/>
              <a:t>selanjutnya</a:t>
            </a:r>
            <a:r>
              <a:rPr lang="en-US" dirty="0"/>
              <a:t> </a:t>
            </a:r>
            <a:r>
              <a:rPr lang="en-US" dirty="0" err="1"/>
              <a:t>menetapkan</a:t>
            </a:r>
            <a:r>
              <a:rPr lang="en-US" dirty="0"/>
              <a:t> </a:t>
            </a:r>
            <a:r>
              <a:rPr lang="en-US" dirty="0" err="1"/>
              <a:t>kelas</a:t>
            </a:r>
            <a:r>
              <a:rPr lang="en-US" dirty="0"/>
              <a:t>. </a:t>
            </a:r>
          </a:p>
          <a:p>
            <a:r>
              <a:rPr lang="en-US" dirty="0"/>
              <a:t>Dari </a:t>
            </a:r>
            <a:r>
              <a:rPr lang="en-US" dirty="0" err="1"/>
              <a:t>tabel</a:t>
            </a:r>
            <a:r>
              <a:rPr lang="en-US" dirty="0"/>
              <a:t> </a:t>
            </a:r>
            <a:r>
              <a:rPr lang="en-US" dirty="0" err="1"/>
              <a:t>sebelumnya</a:t>
            </a:r>
            <a:r>
              <a:rPr lang="en-US" dirty="0"/>
              <a:t> </a:t>
            </a:r>
            <a:r>
              <a:rPr lang="en-US" dirty="0" err="1"/>
              <a:t>dipilih</a:t>
            </a:r>
            <a:r>
              <a:rPr lang="en-US" dirty="0"/>
              <a:t> </a:t>
            </a:r>
            <a:r>
              <a:rPr lang="en-US" dirty="0" err="1"/>
              <a:t>tiga</a:t>
            </a:r>
            <a:r>
              <a:rPr lang="en-US" dirty="0"/>
              <a:t> data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jarak</a:t>
            </a:r>
            <a:r>
              <a:rPr lang="en-US" dirty="0"/>
              <a:t> </a:t>
            </a:r>
            <a:r>
              <a:rPr lang="en-US" dirty="0" err="1"/>
              <a:t>terdekat</a:t>
            </a:r>
            <a:r>
              <a:rPr lang="en-US" dirty="0"/>
              <a:t> </a:t>
            </a:r>
            <a:r>
              <a:rPr lang="en-US" dirty="0" err="1"/>
              <a:t>antara</a:t>
            </a:r>
            <a:r>
              <a:rPr lang="en-US" dirty="0"/>
              <a:t> data training dan data testing, </a:t>
            </a:r>
            <a:r>
              <a:rPr lang="en-US" dirty="0" err="1"/>
              <a:t>sehingga</a:t>
            </a:r>
            <a:r>
              <a:rPr lang="en-US" dirty="0"/>
              <a:t> </a:t>
            </a:r>
            <a:r>
              <a:rPr lang="en-US" dirty="0" err="1"/>
              <a:t>diperoleh</a:t>
            </a:r>
            <a:r>
              <a:rPr lang="en-US" dirty="0"/>
              <a:t> </a:t>
            </a:r>
            <a:r>
              <a:rPr lang="en-US" dirty="0" err="1"/>
              <a:t>tabel</a:t>
            </a:r>
            <a:r>
              <a:rPr lang="en-US" dirty="0"/>
              <a:t> </a:t>
            </a:r>
            <a:r>
              <a:rPr lang="en-US" dirty="0" err="1"/>
              <a:t>berikut</a:t>
            </a:r>
            <a:r>
              <a:rPr lang="en-US" dirty="0"/>
              <a:t>:</a:t>
            </a:r>
          </a:p>
          <a:p>
            <a:r>
              <a:rPr lang="en-US" dirty="0"/>
              <a:t>Tabel di </a:t>
            </a:r>
            <a:r>
              <a:rPr lang="en-US" dirty="0" err="1"/>
              <a:t>samping</a:t>
            </a:r>
            <a:r>
              <a:rPr lang="en-US" dirty="0"/>
              <a:t>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dilihat</a:t>
            </a:r>
            <a:r>
              <a:rPr lang="en-US" dirty="0"/>
              <a:t> data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kelas</a:t>
            </a:r>
            <a:r>
              <a:rPr lang="en-US" dirty="0"/>
              <a:t> A </a:t>
            </a:r>
            <a:r>
              <a:rPr lang="en-US" dirty="0" err="1"/>
              <a:t>lebih</a:t>
            </a:r>
            <a:r>
              <a:rPr lang="en-US" dirty="0"/>
              <a:t> </a:t>
            </a:r>
            <a:r>
              <a:rPr lang="en-US" dirty="0" err="1"/>
              <a:t>banyak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pada </a:t>
            </a:r>
            <a:r>
              <a:rPr lang="en-US" dirty="0" err="1"/>
              <a:t>kelas</a:t>
            </a:r>
            <a:r>
              <a:rPr lang="en-US" dirty="0"/>
              <a:t> B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proporsi</a:t>
            </a:r>
            <a:r>
              <a:rPr lang="en-US" dirty="0"/>
              <a:t> </a:t>
            </a:r>
            <a:r>
              <a:rPr lang="en-US" dirty="0" err="1"/>
              <a:t>kelas</a:t>
            </a:r>
            <a:r>
              <a:rPr lang="en-US" dirty="0"/>
              <a:t> </a:t>
            </a:r>
            <a:r>
              <a:rPr lang="en-US" b="1" dirty="0"/>
              <a:t>A </a:t>
            </a:r>
            <a:r>
              <a:rPr lang="en-US" b="1" dirty="0" err="1"/>
              <a:t>sebesar</a:t>
            </a:r>
            <a:r>
              <a:rPr lang="en-US" b="1" dirty="0"/>
              <a:t> 67%</a:t>
            </a:r>
            <a:r>
              <a:rPr lang="en-US" dirty="0"/>
              <a:t>, </a:t>
            </a:r>
            <a:r>
              <a:rPr lang="en-US" dirty="0" err="1"/>
              <a:t>sedangkan</a:t>
            </a:r>
            <a:r>
              <a:rPr lang="en-US" dirty="0"/>
              <a:t> </a:t>
            </a:r>
            <a:r>
              <a:rPr lang="en-US" dirty="0" err="1"/>
              <a:t>kelas</a:t>
            </a:r>
            <a:r>
              <a:rPr lang="en-US" dirty="0"/>
              <a:t> </a:t>
            </a:r>
            <a:r>
              <a:rPr lang="en-US" b="1" dirty="0"/>
              <a:t>B </a:t>
            </a:r>
            <a:r>
              <a:rPr lang="en-US" b="1" dirty="0" err="1"/>
              <a:t>sebesar</a:t>
            </a:r>
            <a:r>
              <a:rPr lang="en-US" b="1" dirty="0"/>
              <a:t> 33%. </a:t>
            </a:r>
          </a:p>
          <a:p>
            <a:r>
              <a:rPr lang="en-US" b="1" dirty="0" err="1"/>
              <a:t>Dapat</a:t>
            </a:r>
            <a:r>
              <a:rPr lang="en-US" b="1" dirty="0"/>
              <a:t> </a:t>
            </a:r>
            <a:r>
              <a:rPr lang="en-US" b="1" dirty="0" err="1"/>
              <a:t>disimpulkan</a:t>
            </a:r>
            <a:r>
              <a:rPr lang="en-US" b="1" dirty="0"/>
              <a:t> </a:t>
            </a:r>
            <a:r>
              <a:rPr lang="en-US" b="1" dirty="0" err="1"/>
              <a:t>bahwa</a:t>
            </a:r>
            <a:r>
              <a:rPr lang="en-US" b="1" dirty="0"/>
              <a:t> data testing </a:t>
            </a:r>
          </a:p>
          <a:p>
            <a:pPr marL="0" indent="0">
              <a:buNone/>
            </a:pPr>
            <a:r>
              <a:rPr lang="en-US" b="1" dirty="0"/>
              <a:t>   </a:t>
            </a:r>
            <a:r>
              <a:rPr lang="en-US" b="1" dirty="0" err="1"/>
              <a:t>dengan</a:t>
            </a:r>
            <a:r>
              <a:rPr lang="en-US" b="1" dirty="0"/>
              <a:t> </a:t>
            </a:r>
            <a:r>
              <a:rPr lang="en-US" b="1" dirty="0" err="1"/>
              <a:t>nilai</a:t>
            </a:r>
            <a:r>
              <a:rPr lang="en-US" b="1" dirty="0"/>
              <a:t> X=3 dan Y=2 </a:t>
            </a:r>
            <a:r>
              <a:rPr lang="en-US" b="1" dirty="0" err="1"/>
              <a:t>masuk</a:t>
            </a:r>
            <a:r>
              <a:rPr lang="en-US" b="1" dirty="0"/>
              <a:t> </a:t>
            </a:r>
            <a:r>
              <a:rPr lang="en-US" b="1" dirty="0" err="1"/>
              <a:t>ke</a:t>
            </a:r>
            <a:r>
              <a:rPr lang="en-US" b="1" dirty="0"/>
              <a:t> </a:t>
            </a:r>
          </a:p>
          <a:p>
            <a:pPr marL="0" indent="0">
              <a:buNone/>
            </a:pPr>
            <a:r>
              <a:rPr lang="en-US" b="1" dirty="0"/>
              <a:t>   </a:t>
            </a:r>
            <a:r>
              <a:rPr lang="en-US" b="1" dirty="0" err="1"/>
              <a:t>dalam</a:t>
            </a:r>
            <a:r>
              <a:rPr lang="en-US" b="1" dirty="0"/>
              <a:t> </a:t>
            </a:r>
            <a:r>
              <a:rPr lang="en-US" b="1" dirty="0" err="1"/>
              <a:t>kelas</a:t>
            </a:r>
            <a:r>
              <a:rPr lang="en-US" b="1" dirty="0"/>
              <a:t> A.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13A4DA1-E7EE-BDD5-D18A-6F8A3C8A82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4200" y="4306482"/>
            <a:ext cx="5334000" cy="1461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735232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">
  <a:themeElements>
    <a:clrScheme name="Savon">
      <a:dk1>
        <a:sysClr val="windowText" lastClr="000000"/>
      </a:dk1>
      <a:lt1>
        <a:sysClr val="window" lastClr="FFFFFF"/>
      </a:lt1>
      <a:dk2>
        <a:srgbClr val="1485A4"/>
      </a:dk2>
      <a:lt2>
        <a:srgbClr val="E3DED1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F49100"/>
      </a:hlink>
      <a:folHlink>
        <a:srgbClr val="739D9B"/>
      </a:folHlink>
    </a:clrScheme>
    <a:fontScheme name="Savon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2000"/>
                <a:satMod val="160000"/>
              </a:schemeClr>
            </a:gs>
            <a:gs pos="77000">
              <a:schemeClr val="phClr">
                <a:tint val="100000"/>
                <a:shade val="73000"/>
                <a:satMod val="155000"/>
              </a:schemeClr>
            </a:gs>
            <a:gs pos="100000">
              <a:schemeClr val="phClr">
                <a:tint val="100000"/>
                <a:shade val="67000"/>
                <a:satMod val="145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" id="{1306E473-ED32-493B-A2D0-240A757EDD34}" vid="{C20BADFE-D095-436F-9677-9264042809F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Savon</Template>
  <TotalTime>150</TotalTime>
  <Words>493</Words>
  <Application>Microsoft Office PowerPoint</Application>
  <PresentationFormat>Widescreen</PresentationFormat>
  <Paragraphs>52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Century Gothic</vt:lpstr>
      <vt:lpstr>Garamond</vt:lpstr>
      <vt:lpstr>Savon</vt:lpstr>
      <vt:lpstr>K-Nearest Neighbor</vt:lpstr>
      <vt:lpstr>Pengenalan Algoritma  k-Nearest Neighbor (k-NN)</vt:lpstr>
      <vt:lpstr>Analogi </vt:lpstr>
      <vt:lpstr>Rumus Euclidean Distance</vt:lpstr>
      <vt:lpstr>Perhitungan K-NN (1)</vt:lpstr>
      <vt:lpstr>Perhitungan K-NN (2)</vt:lpstr>
      <vt:lpstr>1. Tentukan Nilai Parameter k</vt:lpstr>
      <vt:lpstr>2. Hitung Jarak antara Data Training dan Data Testing </vt:lpstr>
      <vt:lpstr>3. Urutkan Data Berdasarkan Jarak Terkecil</vt:lpstr>
      <vt:lpstr>4. Menetapkan Kelas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TIFANI INTAN</dc:creator>
  <cp:lastModifiedBy>TIFANI INTAN</cp:lastModifiedBy>
  <cp:revision>11</cp:revision>
  <dcterms:created xsi:type="dcterms:W3CDTF">2025-11-11T02:11:07Z</dcterms:created>
  <dcterms:modified xsi:type="dcterms:W3CDTF">2025-11-11T09:26:58Z</dcterms:modified>
</cp:coreProperties>
</file>